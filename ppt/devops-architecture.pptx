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/>
            </a:pPr>
            <a:r>
              <a:t>This presentation covers the comprehensive DevOps architecture for Azure-based applications.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Slide 1: DevOps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323232"/>
                </a:solidFill>
              </a:defRPr>
            </a:pPr>
            <a:r>
              <a:t>Key Components</a:t>
            </a:r>
          </a:p>
          <a:p>
            <a:pPr lvl="1">
              <a:defRPr sz="1800"/>
            </a:pPr>
            <a:r>
              <a:t>**Source Control**: Azure Repos (Git)</a:t>
            </a:r>
          </a:p>
          <a:p>
            <a:pPr lvl="1">
              <a:defRPr sz="1800"/>
            </a:pPr>
            <a:r>
              <a:t>**CI/CD Pipeline**: Azure Pipelines</a:t>
            </a:r>
          </a:p>
          <a:p>
            <a:pPr lvl="1">
              <a:defRPr sz="1800"/>
            </a:pPr>
            <a:r>
              <a:t>**Artifact Management**: Azure Artifacts</a:t>
            </a:r>
          </a:p>
          <a:p>
            <a:pPr lvl="1">
              <a:defRPr sz="1800"/>
            </a:pPr>
            <a:r>
              <a:t>**Infrastructure as Code**: Terraform</a:t>
            </a:r>
          </a:p>
          <a:p>
            <a:pPr lvl="1">
              <a:defRPr sz="1800"/>
            </a:pPr>
            <a:r>
              <a:t>**Configuration Management**: Ansible</a:t>
            </a:r>
          </a:p>
          <a:p>
            <a:pPr lvl="1">
              <a:defRPr sz="1800"/>
            </a:pPr>
            <a:r>
              <a:t>**Monitoring**: Azure Monitor</a:t>
            </a:r>
          </a:p>
          <a:p>
            <a:pPr lvl="1">
              <a:defRPr sz="1800"/>
            </a:pPr>
            <a:r>
              <a:t>**Security**: Azure Key Vault &amp; RBAC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Slide 2: 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323232"/>
                </a:solidFill>
              </a:defRPr>
            </a:pPr>
            <a:r>
              <a:t>Pipeline Stages</a:t>
            </a:r>
          </a:p>
          <a:p>
            <a:pPr lvl="1">
              <a:defRPr sz="1800"/>
            </a:pPr>
            <a:r>
              <a:t>1. **Source**: Code checkout from Azure Repos</a:t>
            </a:r>
          </a:p>
          <a:p>
            <a:pPr lvl="1">
              <a:defRPr sz="1800"/>
            </a:pPr>
            <a:r>
              <a:t>2. **Build**: Compile and package application</a:t>
            </a:r>
          </a:p>
          <a:p>
            <a:pPr lvl="1">
              <a:defRPr sz="1800"/>
            </a:pPr>
            <a:r>
              <a:t>3. **Test**: Unit, integration, and security tests</a:t>
            </a:r>
          </a:p>
          <a:p>
            <a:pPr lvl="1">
              <a:defRPr sz="1800"/>
            </a:pPr>
            <a:r>
              <a:t>4. **Artifact**: Publish to Azure Artifacts</a:t>
            </a:r>
          </a:p>
          <a:p>
            <a:pPr lvl="1">
              <a:defRPr sz="1800"/>
            </a:pPr>
            <a:r>
              <a:t>5. **Deploy**: Deploy to Azure environments</a:t>
            </a:r>
          </a:p>
          <a:p>
            <a:pPr lvl="1">
              <a:defRPr sz="1800"/>
            </a:pPr>
            <a:r>
              <a:t>6. **Monitor**: Track performance and health</a:t>
            </a:r>
          </a:p>
          <a:p>
            <a:pPr>
              <a:defRPr sz="2400" b="1">
                <a:solidFill>
                  <a:srgbClr val="323232"/>
                </a:solidFill>
              </a:defRPr>
            </a:pPr>
            <a:r>
              <a:t>Benefits</a:t>
            </a:r>
          </a:p>
          <a:p>
            <a:pPr lvl="1">
              <a:defRPr sz="1800"/>
            </a:pPr>
            <a:r>
              <a:t>Automated deployment process</a:t>
            </a:r>
          </a:p>
          <a:p>
            <a:pPr lvl="1">
              <a:defRPr sz="1800"/>
            </a:pPr>
            <a:r>
              <a:t>Consistent and repeatable builds</a:t>
            </a:r>
          </a:p>
          <a:p>
            <a:pPr lvl="1">
              <a:defRPr sz="1800"/>
            </a:pPr>
            <a:r>
              <a:t>Fast feedback loops</a:t>
            </a:r>
          </a:p>
          <a:p>
            <a:pPr lvl="1">
              <a:defRPr sz="1800"/>
            </a:pPr>
            <a:r>
              <a:t>Reduced manual errors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Slide 3: Infrastructure as Code (IaC)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323232"/>
                </a:solidFill>
              </a:defRPr>
            </a:pPr>
            <a:r>
              <a:t>Terraform Implementation</a:t>
            </a:r>
          </a:p>
          <a:p>
            <a:pPr lvl="1">
              <a:defRPr sz="1800"/>
            </a:pPr>
            <a:r>
              <a:t>**main.tf**: Core infrastructure definitions</a:t>
            </a:r>
          </a:p>
          <a:p>
            <a:pPr lvl="1">
              <a:defRPr sz="1800"/>
            </a:pPr>
            <a:r>
              <a:t>**variables.tf**: Configurable parameters</a:t>
            </a:r>
          </a:p>
          <a:p>
            <a:pPr lvl="1">
              <a:defRPr sz="1800"/>
            </a:pPr>
            <a:r>
              <a:t>**Resource Management**: Azure resources provisioning</a:t>
            </a:r>
          </a:p>
          <a:p>
            <a:pPr>
              <a:defRPr sz="2400" b="1">
                <a:solidFill>
                  <a:srgbClr val="323232"/>
                </a:solidFill>
              </a:defRPr>
            </a:pPr>
            <a:r>
              <a:t>Advantages</a:t>
            </a:r>
          </a:p>
          <a:p>
            <a:pPr lvl="1">
              <a:defRPr sz="1800"/>
            </a:pPr>
            <a:r>
              <a:t>Version-controlled infrastructure</a:t>
            </a:r>
          </a:p>
          <a:p>
            <a:pPr lvl="1">
              <a:defRPr sz="1800"/>
            </a:pPr>
            <a:r>
              <a:t>Reproducible environments</a:t>
            </a:r>
          </a:p>
          <a:p>
            <a:pPr lvl="1">
              <a:defRPr sz="1800"/>
            </a:pPr>
            <a:r>
              <a:t>Infrastructure drift detection</a:t>
            </a:r>
          </a:p>
          <a:p>
            <a:pPr lvl="1">
              <a:defRPr sz="1800"/>
            </a:pPr>
            <a:r>
              <a:t>Multi-environment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Slide 4: Configuration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323232"/>
                </a:solidFill>
              </a:defRPr>
            </a:pPr>
            <a:r>
              <a:t>Ansible Automation</a:t>
            </a:r>
          </a:p>
          <a:p>
            <a:pPr lvl="1">
              <a:defRPr sz="1800"/>
            </a:pPr>
            <a:r>
              <a:t>**deploy.yml**: Deployment playbooks</a:t>
            </a:r>
          </a:p>
          <a:p>
            <a:pPr lvl="1">
              <a:defRPr sz="1800"/>
            </a:pPr>
            <a:r>
              <a:t>**hosts**: Inventory management</a:t>
            </a:r>
          </a:p>
          <a:p>
            <a:pPr lvl="1">
              <a:defRPr sz="1800"/>
            </a:pPr>
            <a:r>
              <a:t>**Idempotent Operations**: Consistent state</a:t>
            </a:r>
          </a:p>
          <a:p>
            <a:pPr>
              <a:defRPr sz="2400" b="1">
                <a:solidFill>
                  <a:srgbClr val="323232"/>
                </a:solidFill>
              </a:defRPr>
            </a:pPr>
            <a:r>
              <a:t>Use Cases</a:t>
            </a:r>
          </a:p>
          <a:p>
            <a:pPr lvl="1">
              <a:defRPr sz="1800"/>
            </a:pPr>
            <a:r>
              <a:t>Application deployment</a:t>
            </a:r>
          </a:p>
          <a:p>
            <a:pPr lvl="1">
              <a:defRPr sz="1800"/>
            </a:pPr>
            <a:r>
              <a:t>Server configuration</a:t>
            </a:r>
          </a:p>
          <a:p>
            <a:pPr lvl="1">
              <a:defRPr sz="1800"/>
            </a:pPr>
            <a:r>
              <a:t>Package installation</a:t>
            </a:r>
          </a:p>
          <a:p>
            <a:pPr lvl="1">
              <a:defRPr sz="1800"/>
            </a:pPr>
            <a:r>
              <a:t>Service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Slide 5: Monitoring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323232"/>
                </a:solidFill>
              </a:defRPr>
            </a:pPr>
            <a:r>
              <a:t>Azure Monitor</a:t>
            </a:r>
          </a:p>
          <a:p>
            <a:pPr lvl="1">
              <a:defRPr sz="1800"/>
            </a:pPr>
            <a:r>
              <a:t>Application Insights</a:t>
            </a:r>
          </a:p>
          <a:p>
            <a:pPr lvl="1">
              <a:defRPr sz="1800"/>
            </a:pPr>
            <a:r>
              <a:t>Log Analytics</a:t>
            </a:r>
          </a:p>
          <a:p>
            <a:pPr lvl="1">
              <a:defRPr sz="1800"/>
            </a:pPr>
            <a:r>
              <a:t>Metrics and Alerts</a:t>
            </a:r>
          </a:p>
          <a:p>
            <a:pPr lvl="1">
              <a:defRPr sz="1800"/>
            </a:pPr>
            <a:r>
              <a:t>Performance tracking</a:t>
            </a:r>
          </a:p>
          <a:p>
            <a:pPr>
              <a:defRPr sz="2400" b="1">
                <a:solidFill>
                  <a:srgbClr val="323232"/>
                </a:solidFill>
              </a:defRPr>
            </a:pPr>
            <a:r>
              <a:t>Security Best Practices</a:t>
            </a:r>
          </a:p>
          <a:p>
            <a:pPr lvl="1">
              <a:defRPr sz="1800"/>
            </a:pPr>
            <a:r>
              <a:t>Azure Key Vault for secrets</a:t>
            </a:r>
          </a:p>
          <a:p>
            <a:pPr lvl="1">
              <a:defRPr sz="1800"/>
            </a:pPr>
            <a:r>
              <a:t>Role-Based Access Control (RBAC)</a:t>
            </a:r>
          </a:p>
          <a:p>
            <a:pPr lvl="1">
              <a:defRPr sz="1800"/>
            </a:pPr>
            <a:r>
              <a:t>Network Security Groups</a:t>
            </a:r>
          </a:p>
          <a:p>
            <a:pPr lvl="1">
              <a:defRPr sz="1800"/>
            </a:pPr>
            <a:r>
              <a:t>Managed Identities</a:t>
            </a:r>
          </a:p>
          <a:p>
            <a:pPr lvl="1">
              <a:defRPr sz="1800"/>
            </a:pPr>
            <a:r>
              <a:t>Security scanning in pipelines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Slide 6: 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323232"/>
                </a:solidFill>
              </a:defRPr>
            </a:pPr>
            <a:r>
              <a:t>Environment Promotion</a:t>
            </a:r>
          </a:p>
          <a:p>
            <a:pPr lvl="1">
              <a:defRPr sz="1800"/>
            </a:pPr>
            <a:r>
              <a:t>1. **Development**: Feature development and testing</a:t>
            </a:r>
          </a:p>
          <a:p>
            <a:pPr lvl="1">
              <a:defRPr sz="1800"/>
            </a:pPr>
            <a:r>
              <a:t>2. **Staging**: Pre-production validation</a:t>
            </a:r>
          </a:p>
          <a:p>
            <a:pPr lvl="1">
              <a:defRPr sz="1800"/>
            </a:pPr>
            <a:r>
              <a:t>3. **Production**: Live environment</a:t>
            </a:r>
          </a:p>
          <a:p>
            <a:pPr>
              <a:defRPr sz="2400" b="1">
                <a:solidFill>
                  <a:srgbClr val="323232"/>
                </a:solidFill>
              </a:defRPr>
            </a:pPr>
            <a:r>
              <a:t>Deployment Patterns</a:t>
            </a:r>
          </a:p>
          <a:p>
            <a:pPr lvl="1">
              <a:defRPr sz="1800"/>
            </a:pPr>
            <a:r>
              <a:t>Blue-Green Deployment</a:t>
            </a:r>
          </a:p>
          <a:p>
            <a:pPr lvl="1">
              <a:defRPr sz="1800"/>
            </a:pPr>
            <a:r>
              <a:t>Canary Releases</a:t>
            </a:r>
          </a:p>
          <a:p>
            <a:pPr lvl="1">
              <a:defRPr sz="1800"/>
            </a:pPr>
            <a:r>
              <a:t>Rolling Updates</a:t>
            </a:r>
          </a:p>
          <a:p>
            <a:pPr lvl="1">
              <a:defRPr sz="1800"/>
            </a:pPr>
            <a:r>
              <a:t>Feature Flags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Slide 7: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323232"/>
                </a:solidFill>
              </a:defRPr>
            </a:pPr>
            <a:r>
              <a:t>Code Quality</a:t>
            </a:r>
          </a:p>
          <a:p>
            <a:pPr lvl="1">
              <a:defRPr sz="1800"/>
            </a:pPr>
            <a:r>
              <a:t>Automated testing (unit, integration, e2e)</a:t>
            </a:r>
          </a:p>
          <a:p>
            <a:pPr lvl="1">
              <a:defRPr sz="1800"/>
            </a:pPr>
            <a:r>
              <a:t>Code review process</a:t>
            </a:r>
          </a:p>
          <a:p>
            <a:pPr lvl="1">
              <a:defRPr sz="1800"/>
            </a:pPr>
            <a:r>
              <a:t>Static code analysis</a:t>
            </a:r>
          </a:p>
          <a:p>
            <a:pPr lvl="1">
              <a:defRPr sz="1800"/>
            </a:pPr>
            <a:r>
              <a:t>Security scanning</a:t>
            </a:r>
          </a:p>
          <a:p>
            <a:pPr>
              <a:defRPr sz="2400" b="1">
                <a:solidFill>
                  <a:srgbClr val="323232"/>
                </a:solidFill>
              </a:defRPr>
            </a:pPr>
            <a:r>
              <a:t>Pipeline Optimization</a:t>
            </a:r>
          </a:p>
          <a:p>
            <a:pPr lvl="1">
              <a:defRPr sz="1800"/>
            </a:pPr>
            <a:r>
              <a:t>Parallel job execution</a:t>
            </a:r>
          </a:p>
          <a:p>
            <a:pPr lvl="1">
              <a:defRPr sz="1800"/>
            </a:pPr>
            <a:r>
              <a:t>Caching strategies</a:t>
            </a:r>
          </a:p>
          <a:p>
            <a:pPr lvl="1">
              <a:defRPr sz="1800"/>
            </a:pPr>
            <a:r>
              <a:t>Incremental builds</a:t>
            </a:r>
          </a:p>
          <a:p>
            <a:pPr lvl="1">
              <a:defRPr sz="1800"/>
            </a:pPr>
            <a:r>
              <a:t>Fast feedback loops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Slide 8: 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323232"/>
                </a:solidFill>
              </a:defRPr>
            </a:pPr>
            <a:r>
              <a:t>Prerequisites</a:t>
            </a:r>
          </a:p>
          <a:p>
            <a:pPr lvl="1">
              <a:defRPr sz="1800"/>
            </a:pPr>
            <a:r>
              <a:t>Azure subscription</a:t>
            </a:r>
          </a:p>
          <a:p>
            <a:pPr lvl="1">
              <a:defRPr sz="1800"/>
            </a:pPr>
            <a:r>
              <a:t>Azure DevOps organization</a:t>
            </a:r>
          </a:p>
          <a:p>
            <a:pPr lvl="1">
              <a:defRPr sz="1800"/>
            </a:pPr>
            <a:r>
              <a:t>Git repository</a:t>
            </a:r>
          </a:p>
          <a:p>
            <a:pPr lvl="1">
              <a:defRPr sz="1800"/>
            </a:pPr>
            <a:r>
              <a:t>Required permissions</a:t>
            </a:r>
          </a:p>
          <a:p>
            <a:pPr>
              <a:defRPr sz="2400" b="1">
                <a:solidFill>
                  <a:srgbClr val="323232"/>
                </a:solidFill>
              </a:defRPr>
            </a:pPr>
            <a:r>
              <a:t>Next Steps</a:t>
            </a:r>
          </a:p>
          <a:p>
            <a:pPr lvl="1">
              <a:defRPr sz="1800"/>
            </a:pPr>
            <a:r>
              <a:t>1. Review README-devops-onboarding.md</a:t>
            </a:r>
          </a:p>
          <a:p>
            <a:pPr lvl="1">
              <a:defRPr sz="1800"/>
            </a:pPr>
            <a:r>
              <a:t>2. Configure Azure Pipelines</a:t>
            </a:r>
          </a:p>
          <a:p>
            <a:pPr lvl="1">
              <a:defRPr sz="1800"/>
            </a:pPr>
            <a:r>
              <a:t>3. Set up Terraform backend</a:t>
            </a:r>
          </a:p>
          <a:p>
            <a:pPr lvl="1">
              <a:defRPr sz="1800"/>
            </a:pPr>
            <a:r>
              <a:t>4. Configure Ansible inventory</a:t>
            </a:r>
          </a:p>
          <a:p>
            <a:pPr lvl="1">
              <a:defRPr sz="1800"/>
            </a:pPr>
            <a:r>
              <a:t>5. Deploy to development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/>
            </a:pPr>
            <a:r>
              <a:t>Contact the DevOps team for support and guidance.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