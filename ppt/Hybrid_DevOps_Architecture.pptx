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78D4"/>
                </a:solidFill>
              </a:defRPr>
            </a:pPr>
            <a:r>
              <a:t>Hybrid DevOps Architecture &amp; Observability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 Platform: Hybrid (On-Prem + Azure)</a:t>
            </a:r>
          </a:p>
          <a:p>
            <a:r>
              <a:t>Tools: Azure DevOps, Sentinel, Monitor, Terraform, Ansible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8D4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Objective: Unified CI/CD &amp; Observability for Hybrid Infrastructure.</a:t>
            </a:r>
          </a:p>
          <a:p>
            <a:pPr>
              <a:defRPr sz="1800">
                <a:latin typeface="Segoe UI"/>
              </a:defRPr>
            </a:pPr>
            <a:r>
              <a:t>Primary Scope:</a:t>
            </a:r>
          </a:p>
          <a:p>
            <a:pPr lvl="1">
              <a:defRPr sz="1800">
                <a:latin typeface="Segoe UI"/>
              </a:defRPr>
            </a:pPr>
            <a:r>
              <a:t>Environments: Dev, Test, Stage, PreProd, Prod</a:t>
            </a:r>
          </a:p>
          <a:p>
            <a:pPr lvl="1">
              <a:defRPr sz="1800">
                <a:latin typeface="Segoe UI"/>
              </a:defRPr>
            </a:pPr>
            <a:r>
              <a:t>Hosting: Azure Resources + On-Premise Servers</a:t>
            </a:r>
          </a:p>
          <a:p>
            <a:pPr>
              <a:defRPr sz="1800">
                <a:latin typeface="Segoe UI"/>
              </a:defRPr>
            </a:pPr>
            <a:r>
              <a:t>Key Pillars:</a:t>
            </a:r>
          </a:p>
          <a:p>
            <a:pPr lvl="1">
              <a:defRPr sz="1800">
                <a:latin typeface="Segoe UI"/>
              </a:defRPr>
            </a:pPr>
            <a:r>
              <a:t>IaC: Terraform (Infra) + Ansible (Config)</a:t>
            </a:r>
          </a:p>
          <a:p>
            <a:pPr lvl="1">
              <a:defRPr sz="1800">
                <a:latin typeface="Segoe UI"/>
              </a:defRPr>
            </a:pPr>
            <a:r>
              <a:t>Security: Defender for Cloud + Sentinel (SIEM/SOAR)</a:t>
            </a:r>
          </a:p>
          <a:p>
            <a:pPr lvl="1">
              <a:defRPr sz="1800">
                <a:latin typeface="Segoe UI"/>
              </a:defRPr>
            </a:pPr>
            <a:r>
              <a:t>Observability: Full stack monitoring (App Insights to Log Analytics)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8D4"/>
                </a:solidFill>
                <a:latin typeface="Segoe UI"/>
              </a:defRPr>
            </a:pPr>
            <a:r>
              <a:t>High-Level Logical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>
                <a:solidFill>
                  <a:srgbClr val="0078D4"/>
                </a:solidFill>
              </a:defRPr>
            </a:pPr>
            <a:r>
              <a:t>[PLACEHOLDER FOR ARCHITECTURE DIAGRAM]</a:t>
            </a:r>
            <a:br/>
          </a:p>
          <a:p>
            <a:pPr>
              <a:defRPr b="1"/>
            </a:pPr>
            <a:r>
              <a:t>Logical Flow:</a:t>
            </a:r>
          </a:p>
          <a:p>
            <a:pPr>
              <a:defRPr sz="1600"/>
            </a:pPr>
            <a:r>
              <a:t>1. PLAN: Azure Boards tracks work items.</a:t>
            </a:r>
          </a:p>
          <a:p>
            <a:pPr>
              <a:defRPr sz="1600"/>
            </a:pPr>
            <a:r>
              <a:t>2. CODE: Azure Repos triggers Pipelines.</a:t>
            </a:r>
          </a:p>
          <a:p>
            <a:pPr>
              <a:defRPr sz="1600"/>
            </a:pPr>
            <a:r>
              <a:t>3. SCAN: SonarQube checks quality; Key Vault provides secrets.</a:t>
            </a:r>
          </a:p>
          <a:p>
            <a:pPr>
              <a:defRPr sz="1600"/>
            </a:pPr>
            <a:r>
              <a:t>4. DEPLOY: Terraform provisions Infra; Ansible configures OS.</a:t>
            </a:r>
          </a:p>
          <a:p>
            <a:pPr>
              <a:defRPr sz="1600"/>
            </a:pPr>
            <a:r>
              <a:t>5. MONITOR: Agents send logs to Azure Monitor/Sentinel.</a:t>
            </a:r>
          </a:p>
          <a:p>
            <a:pPr>
              <a:defRPr sz="1600"/>
            </a:pPr>
            <a:r>
              <a:t>6. SECURE: Defender protects workloads; Sentinel correlates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8D4"/>
                </a:solidFill>
                <a:latin typeface="Segoe UI"/>
              </a:defRPr>
            </a:pPr>
            <a:r>
              <a:t>CI/CD &amp; Automation Toolchain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Orchestration: Azure Pipelines (YAML Multi-stage)</a:t>
            </a:r>
          </a:p>
          <a:p>
            <a:pPr>
              <a:defRPr sz="1800">
                <a:latin typeface="Segoe UI"/>
              </a:defRPr>
            </a:pPr>
            <a:r>
              <a:t>Infrastructure as Code (IaC):</a:t>
            </a:r>
          </a:p>
          <a:p>
            <a:pPr lvl="1">
              <a:defRPr sz="1800">
                <a:latin typeface="Segoe UI"/>
              </a:defRPr>
            </a:pPr>
            <a:r>
              <a:t>Terraform: State managed in Azure Storage. Provisions VNETs, VMs, AKS.</a:t>
            </a:r>
          </a:p>
          <a:p>
            <a:pPr lvl="1">
              <a:defRPr sz="1800">
                <a:latin typeface="Segoe UI"/>
              </a:defRPr>
            </a:pPr>
            <a:r>
              <a:t>Ansible: Configures Middleware, Patches, App Deployment on VMs.</a:t>
            </a:r>
          </a:p>
          <a:p>
            <a:pPr lvl="1">
              <a:defRPr sz="1800">
                <a:latin typeface="Segoe UI"/>
              </a:defRPr>
            </a:pPr>
            <a:r>
              <a:t>Python: Custom automation scripts.</a:t>
            </a:r>
          </a:p>
          <a:p>
            <a:pPr>
              <a:defRPr sz="1800">
                <a:latin typeface="Segoe UI"/>
              </a:defRPr>
            </a:pPr>
            <a:r>
              <a:t>Governance:</a:t>
            </a:r>
          </a:p>
          <a:p>
            <a:pPr lvl="1">
              <a:defRPr sz="1800">
                <a:latin typeface="Segoe UI"/>
              </a:defRPr>
            </a:pPr>
            <a:r>
              <a:t>ServiceNow: Change Management gating.</a:t>
            </a:r>
          </a:p>
          <a:p>
            <a:pPr lvl="1">
              <a:defRPr sz="1800">
                <a:latin typeface="Segoe UI"/>
              </a:defRPr>
            </a:pPr>
            <a:r>
              <a:t>Azure Key Vault: Secret injection at runtime.</a:t>
            </a:r>
          </a:p>
          <a:p>
            <a:pPr lvl="1">
              <a:defRPr sz="1800">
                <a:latin typeface="Segoe UI"/>
              </a:defRPr>
            </a:pPr>
            <a:r>
              <a:t>Azure Test Plans: Manual &amp; Automated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8D4"/>
                </a:solidFill>
                <a:latin typeface="Segoe UI"/>
              </a:defRPr>
            </a:pPr>
            <a:r>
              <a:t>Observability Strategy (The Eyes)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Application Layer:</a:t>
            </a:r>
          </a:p>
          <a:p>
            <a:pPr lvl="1">
              <a:defRPr sz="1800">
                <a:latin typeface="Segoe UI"/>
              </a:defRPr>
            </a:pPr>
            <a:r>
              <a:t>Azure Application Insights: APM, Distributed Tracing.</a:t>
            </a:r>
          </a:p>
          <a:p>
            <a:pPr lvl="1">
              <a:defRPr sz="1800">
                <a:latin typeface="Segoe UI"/>
              </a:defRPr>
            </a:pPr>
            <a:r>
              <a:t>Azure Workbooks: Custom analytics visualization.</a:t>
            </a:r>
          </a:p>
          <a:p>
            <a:pPr>
              <a:defRPr sz="1800">
                <a:latin typeface="Segoe UI"/>
              </a:defRPr>
            </a:pPr>
            <a:r>
              <a:t>Infrastructure Layer:</a:t>
            </a:r>
          </a:p>
          <a:p>
            <a:pPr lvl="1">
              <a:defRPr sz="1800">
                <a:latin typeface="Segoe UI"/>
              </a:defRPr>
            </a:pPr>
            <a:r>
              <a:t>Azure Monitor Ops Insight: VM &amp; Host health.</a:t>
            </a:r>
          </a:p>
          <a:p>
            <a:pPr lvl="1">
              <a:defRPr sz="1800">
                <a:latin typeface="Segoe UI"/>
              </a:defRPr>
            </a:pPr>
            <a:r>
              <a:t>Azure Container Log Analytics: Kubernetes/Container metrics.</a:t>
            </a:r>
          </a:p>
          <a:p>
            <a:pPr lvl="1">
              <a:defRPr sz="1800">
                <a:latin typeface="Segoe UI"/>
              </a:defRPr>
            </a:pPr>
            <a:r>
              <a:t>Service Map: Dependency modeling (Server-to-Server connections).</a:t>
            </a:r>
          </a:p>
          <a:p>
            <a:pPr>
              <a:defRPr sz="1800">
                <a:latin typeface="Segoe UI"/>
              </a:defRPr>
            </a:pPr>
            <a:r>
              <a:t>AIOps:</a:t>
            </a:r>
          </a:p>
          <a:p>
            <a:pPr lvl="1">
              <a:defRPr sz="1800">
                <a:latin typeface="Segoe UI"/>
              </a:defRPr>
            </a:pPr>
            <a:r>
              <a:t>Azure Monitor Insight: Intelligent anomaly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8D4"/>
                </a:solidFill>
                <a:latin typeface="Segoe UI"/>
              </a:defRPr>
            </a:pPr>
            <a:r>
              <a:t>Security &amp; Sentinel (The Brain)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SIEM &amp; SOAR:</a:t>
            </a:r>
          </a:p>
          <a:p>
            <a:pPr lvl="1">
              <a:defRPr sz="1800">
                <a:latin typeface="Segoe UI"/>
              </a:defRPr>
            </a:pPr>
            <a:r>
              <a:t>Azure Sentinel: Ingests logs from all Hybrid sources.</a:t>
            </a:r>
          </a:p>
          <a:p>
            <a:pPr lvl="1">
              <a:defRPr sz="1800">
                <a:latin typeface="Segoe UI"/>
              </a:defRPr>
            </a:pPr>
            <a:r>
              <a:t>Sentinel AIOps: ML-driven threat detection &amp; correlation.</a:t>
            </a:r>
          </a:p>
          <a:p>
            <a:pPr>
              <a:defRPr sz="1800">
                <a:latin typeface="Segoe UI"/>
              </a:defRPr>
            </a:pPr>
            <a:r>
              <a:t>Cloud Security Posture Management (CSPM):</a:t>
            </a:r>
          </a:p>
          <a:p>
            <a:pPr lvl="1">
              <a:defRPr sz="1800">
                <a:latin typeface="Segoe UI"/>
              </a:defRPr>
            </a:pPr>
            <a:r>
              <a:t>Microsoft Defender for Cloud: Protects Azure &amp; On-Prem workloads.</a:t>
            </a:r>
          </a:p>
          <a:p>
            <a:pPr>
              <a:defRPr sz="1800">
                <a:latin typeface="Segoe UI"/>
              </a:defRPr>
            </a:pPr>
            <a:r>
              <a:t>Identity:</a:t>
            </a:r>
          </a:p>
          <a:p>
            <a:pPr lvl="1">
              <a:defRPr sz="1800">
                <a:latin typeface="Segoe UI"/>
              </a:defRPr>
            </a:pPr>
            <a:r>
              <a:t>Azure Key Vault: Centralized secret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8D4"/>
                </a:solidFill>
                <a:latin typeface="Segoe UI"/>
              </a:defRPr>
            </a:pPr>
            <a:r>
              <a:t>Roadmap &amp; Repo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Repository: kkarthee/azure_architect</a:t>
            </a:r>
          </a:p>
          <a:p>
            <a:pPr>
              <a:defRPr sz="1800">
                <a:latin typeface="Segoe UI"/>
              </a:defRPr>
            </a:pPr>
            <a:r>
              <a:t>Folder Structure:</a:t>
            </a:r>
          </a:p>
          <a:p>
            <a:pPr lvl="1">
              <a:defRPr sz="1800">
                <a:latin typeface="Segoe UI"/>
              </a:defRPr>
            </a:pPr>
            <a:r>
              <a:t>/iac - Terraform modules &amp; Ansible playbooks</a:t>
            </a:r>
          </a:p>
          <a:p>
            <a:pPr lvl="1">
              <a:defRPr sz="1800">
                <a:latin typeface="Segoe UI"/>
              </a:defRPr>
            </a:pPr>
            <a:r>
              <a:t>/pipelines - YAML Pipeline definitions</a:t>
            </a:r>
          </a:p>
          <a:p>
            <a:pPr lvl="1">
              <a:defRPr sz="1800">
                <a:latin typeface="Segoe UI"/>
              </a:defRPr>
            </a:pPr>
            <a:r>
              <a:t>/src - Application source code</a:t>
            </a:r>
          </a:p>
          <a:p>
            <a:pPr lvl="1">
              <a:defRPr sz="1800">
                <a:latin typeface="Segoe UI"/>
              </a:defRPr>
            </a:pPr>
            <a:r>
              <a:t>/docs - Architecture diagrams &amp; decision records</a:t>
            </a:r>
          </a:p>
          <a:p>
            <a:pPr>
              <a:defRPr sz="1800">
                <a:latin typeface="Segoe UI"/>
              </a:defRPr>
            </a:pPr>
            <a:r>
              <a:t>Next Steps:</a:t>
            </a:r>
          </a:p>
          <a:p>
            <a:pPr lvl="1">
              <a:defRPr sz="1800">
                <a:latin typeface="Segoe UI"/>
              </a:defRPr>
            </a:pPr>
            <a:r>
              <a:t>1. Initialize Terraform Remote State.</a:t>
            </a:r>
          </a:p>
          <a:p>
            <a:pPr lvl="1">
              <a:defRPr sz="1800">
                <a:latin typeface="Segoe UI"/>
              </a:defRPr>
            </a:pPr>
            <a:r>
              <a:t>2. Configure Azure DevOps Service Connections (Azure &amp; On-Prem).</a:t>
            </a:r>
          </a:p>
          <a:p>
            <a:pPr lvl="1">
              <a:defRPr sz="1800">
                <a:latin typeface="Segoe UI"/>
              </a:defRPr>
            </a:pPr>
            <a:r>
              <a:t>3. Deploy Sentinel Data Connectors.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